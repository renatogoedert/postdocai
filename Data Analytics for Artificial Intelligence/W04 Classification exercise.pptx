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B6E39-6D31-4B36-AAF2-0A5C8EBF391A}" v="1" dt="2026-02-12T18:02:21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sif Razzaq" userId="5079d8c0-18ab-445d-87aa-601cfd34c051" providerId="ADAL" clId="{439A3BE8-30E3-4C4E-9BE2-F714FF0819F1}"/>
    <pc:docChg chg="custSel addSld modSld">
      <pc:chgData name="Muhammad Asif Razzaq" userId="5079d8c0-18ab-445d-87aa-601cfd34c051" providerId="ADAL" clId="{439A3BE8-30E3-4C4E-9BE2-F714FF0819F1}" dt="2026-02-12T18:02:31.901" v="27" actId="20577"/>
      <pc:docMkLst>
        <pc:docMk/>
      </pc:docMkLst>
      <pc:sldChg chg="addSp delSp modSp new mod">
        <pc:chgData name="Muhammad Asif Razzaq" userId="5079d8c0-18ab-445d-87aa-601cfd34c051" providerId="ADAL" clId="{439A3BE8-30E3-4C4E-9BE2-F714FF0819F1}" dt="2026-02-12T18:02:31.901" v="27" actId="20577"/>
        <pc:sldMkLst>
          <pc:docMk/>
          <pc:sldMk cId="692896411" sldId="257"/>
        </pc:sldMkLst>
        <pc:spChg chg="del">
          <ac:chgData name="Muhammad Asif Razzaq" userId="5079d8c0-18ab-445d-87aa-601cfd34c051" providerId="ADAL" clId="{439A3BE8-30E3-4C4E-9BE2-F714FF0819F1}" dt="2026-02-12T18:01:23.681" v="1" actId="478"/>
          <ac:spMkLst>
            <pc:docMk/>
            <pc:sldMk cId="692896411" sldId="257"/>
            <ac:spMk id="2" creationId="{CE3C71B1-578A-D203-25A8-597CAE6D714F}"/>
          </ac:spMkLst>
        </pc:spChg>
        <pc:spChg chg="del">
          <ac:chgData name="Muhammad Asif Razzaq" userId="5079d8c0-18ab-445d-87aa-601cfd34c051" providerId="ADAL" clId="{439A3BE8-30E3-4C4E-9BE2-F714FF0819F1}" dt="2026-02-12T18:01:23.681" v="1" actId="478"/>
          <ac:spMkLst>
            <pc:docMk/>
            <pc:sldMk cId="692896411" sldId="257"/>
            <ac:spMk id="3" creationId="{D74218B6-AA1F-E7D2-EE7D-020B3374C4BD}"/>
          </ac:spMkLst>
        </pc:spChg>
        <pc:spChg chg="add mod">
          <ac:chgData name="Muhammad Asif Razzaq" userId="5079d8c0-18ab-445d-87aa-601cfd34c051" providerId="ADAL" clId="{439A3BE8-30E3-4C4E-9BE2-F714FF0819F1}" dt="2026-02-12T18:02:25.531" v="8" actId="1076"/>
          <ac:spMkLst>
            <pc:docMk/>
            <pc:sldMk cId="692896411" sldId="257"/>
            <ac:spMk id="5" creationId="{E32BFDF8-87B5-265C-A001-493C906B3105}"/>
          </ac:spMkLst>
        </pc:spChg>
        <pc:spChg chg="add mod">
          <ac:chgData name="Muhammad Asif Razzaq" userId="5079d8c0-18ab-445d-87aa-601cfd34c051" providerId="ADAL" clId="{439A3BE8-30E3-4C4E-9BE2-F714FF0819F1}" dt="2026-02-12T18:02:31.901" v="27" actId="20577"/>
          <ac:spMkLst>
            <pc:docMk/>
            <pc:sldMk cId="692896411" sldId="257"/>
            <ac:spMk id="6" creationId="{3B36C8A6-1CF5-3D37-97F5-EB0B3EC388D9}"/>
          </ac:spMkLst>
        </pc:spChg>
      </pc:sldChg>
    </pc:docChg>
  </pc:docChgLst>
  <pc:docChgLst>
    <pc:chgData name="Renato Goedert" userId="170940bc7de21b77" providerId="LiveId" clId="{E443F836-0A9A-4015-B76A-E17154BDA8A7}"/>
    <pc:docChg chg="modSld">
      <pc:chgData name="Renato Goedert" userId="170940bc7de21b77" providerId="LiveId" clId="{E443F836-0A9A-4015-B76A-E17154BDA8A7}" dt="2026-02-12T18:52:25.249" v="0" actId="1076"/>
      <pc:docMkLst>
        <pc:docMk/>
      </pc:docMkLst>
      <pc:sldChg chg="modSp mod">
        <pc:chgData name="Renato Goedert" userId="170940bc7de21b77" providerId="LiveId" clId="{E443F836-0A9A-4015-B76A-E17154BDA8A7}" dt="2026-02-12T18:52:25.249" v="0" actId="1076"/>
        <pc:sldMkLst>
          <pc:docMk/>
          <pc:sldMk cId="692896411" sldId="257"/>
        </pc:sldMkLst>
        <pc:spChg chg="mod">
          <ac:chgData name="Renato Goedert" userId="170940bc7de21b77" providerId="LiveId" clId="{E443F836-0A9A-4015-B76A-E17154BDA8A7}" dt="2026-02-12T18:52:25.249" v="0" actId="1076"/>
          <ac:spMkLst>
            <pc:docMk/>
            <pc:sldMk cId="692896411" sldId="257"/>
            <ac:spMk id="5" creationId="{E32BFDF8-87B5-265C-A001-493C906B310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41B1-1A80-A497-7D3F-1E707DC87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FAB87-D512-BE6E-BD41-28A752E8D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66063-F3AD-D859-14F2-DEBAB9F0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1A402-7AD9-D731-5710-9EB9E995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E93FF-1D53-4620-93F6-E260365D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26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5DE02-707E-AE23-EAC2-7062B95ED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56BC-FE27-FD21-4054-A6BF53BB5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E289E-7341-4612-D763-06B1ACA8F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94372-2229-2521-7686-E7B0DA10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D1603-7DAC-B526-8107-B15CE11C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06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26E8-2131-526C-C90F-11BBEF34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24A76-1B4D-ABB4-BF79-987326398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D0F52-FD19-E1EA-C76A-B3B51029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97854-85B6-1F82-A6EE-42F85693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85CF6-8AA1-15AC-CA38-123C8AD1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65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D86A-265E-6951-0215-4EC08C05A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D946D-8790-E826-E963-C3E882CE5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8BDEC-6C67-FFCD-1526-9EE515FE5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D9F32-5F3D-343D-8A23-A9E8193E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3B2A8-EAF6-0D8B-F6B4-150BECE9C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D179F-0FFB-320D-139E-1C195F8D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73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8670-CDEF-AF83-8728-391051EFE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F6C40-5338-B79A-3189-798B8196E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4C432-E071-4AAB-6FC3-056FBF0B1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B0F7E-3754-7036-251A-3F346FEA5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EC604-1355-2DFE-BF35-EFF6CD4D3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299D7-617B-958C-5E65-4B5856CC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E21381-8EF4-921D-8A48-BA6A0B3A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AA680-0557-FB83-4A27-80845B2A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740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0D32-8132-1D55-8841-850D8BD82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9E5817-2776-8DF3-70B0-E06820B4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D0C31-B8A0-B91A-5A24-CD023DAF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A49EA-7352-09A1-1293-47FBD09FA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06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CA9018-F323-7069-A9F1-21C235F4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4F8AA1-C4EE-4CF5-1EA4-29A78CC7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0C1EF-2696-12C4-9C5E-DDCAFFA9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88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FD62-AF85-A18A-2099-31F2D16F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32D56-90D1-F84A-1A61-32B319FAF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04E52-70B2-90DD-F30A-41C317342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F2E39-08E1-8F97-AC9A-0EA32E4F4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34286-CB15-C0E0-93A8-7CC7F5AA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CC165-E510-103A-21B3-35C31600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411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3F67-77C2-984E-F0F2-8C12394A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073E6-FF09-C80D-718C-7565BCEA8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D81D5-86A1-E891-4D07-3A2C82EB0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13A76-1541-4CE6-385D-D1D19A62B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5CDF6-888A-FBB0-B95D-1660C7E7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B82FA-5E2F-5F36-D702-EE1722B6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25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836F-8982-0593-E025-1AB950057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92EFD-FC71-2F46-E2AA-8B4D6C9A7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475AA-9FE4-9BF4-AC6E-7D091989A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4AF1C-E2FE-66FE-E4C4-DCB9785C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6EDAD-AD03-5EE4-0F7F-BF7AB534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08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EE0976-F0AD-2DC6-399C-70FE2EB0A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DBC80-8B17-D572-3034-BCE28CA1F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93C08-635B-CA92-4824-096F4E6B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35792-BB66-9CEE-90EC-6EF3F5DF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70A80-473F-7821-5215-BC10F12D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98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B8688-32D9-7458-F108-ECFE1BA26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7D785-15D1-2DD4-F969-71E7F5B67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B1355-3775-6541-8636-F3C6DC454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82163-326A-4216-9075-B3A23EE9A397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4772C-F277-1FD2-E641-00AAA5460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B4A0C-9F89-197E-9633-030B4FFA8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5680A-1339-44FC-8BD0-67063F39D9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12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F06767-D5F3-DC30-7E4A-CA07C9DE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lab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1A295F-6DDC-A79B-2A6E-B100C81DC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Quick EDA</a:t>
            </a:r>
          </a:p>
          <a:p>
            <a:pPr lvl="1"/>
            <a:r>
              <a:rPr lang="en-GB" dirty="0"/>
              <a:t>Summary &amp; plots</a:t>
            </a:r>
          </a:p>
          <a:p>
            <a:pPr lvl="1"/>
            <a:r>
              <a:rPr lang="en-GB" dirty="0"/>
              <a:t>Target variable identified</a:t>
            </a:r>
          </a:p>
          <a:p>
            <a:r>
              <a:rPr lang="en-GB" dirty="0"/>
              <a:t>ML model</a:t>
            </a:r>
          </a:p>
          <a:p>
            <a:pPr lvl="1"/>
            <a:r>
              <a:rPr lang="en-GB" dirty="0"/>
              <a:t>Create a baseline pipelines for either regression or classification</a:t>
            </a:r>
          </a:p>
          <a:p>
            <a:pPr lvl="1"/>
            <a:r>
              <a:rPr lang="en-GB" dirty="0"/>
              <a:t>Create any other pipeline for either regression or classification</a:t>
            </a:r>
          </a:p>
          <a:p>
            <a:r>
              <a:rPr lang="en-GB" dirty="0"/>
              <a:t>Run your models with feature selection</a:t>
            </a:r>
          </a:p>
          <a:p>
            <a:pPr lvl="1"/>
            <a:r>
              <a:rPr lang="en-GB" dirty="0"/>
              <a:t>Univariate (select k-best)</a:t>
            </a:r>
          </a:p>
          <a:p>
            <a:pPr lvl="1"/>
            <a:r>
              <a:rPr lang="en-GB" dirty="0"/>
              <a:t>Multivariate (permutation importance)</a:t>
            </a:r>
          </a:p>
          <a:p>
            <a:r>
              <a:rPr lang="en-GB" dirty="0"/>
              <a:t>ZIP your notebook and submit it through Moodle</a:t>
            </a:r>
          </a:p>
        </p:txBody>
      </p:sp>
    </p:spTree>
    <p:extLst>
      <p:ext uri="{BB962C8B-B14F-4D97-AF65-F5344CB8AC3E}">
        <p14:creationId xmlns:p14="http://schemas.microsoft.com/office/powerpoint/2010/main" val="2529664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2BFDF8-87B5-265C-A001-493C906B3105}"/>
              </a:ext>
            </a:extLst>
          </p:cNvPr>
          <p:cNvSpPr txBox="1"/>
          <p:nvPr/>
        </p:nvSpPr>
        <p:spPr>
          <a:xfrm>
            <a:off x="435143" y="1837812"/>
            <a:ext cx="1067299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i="1" dirty="0">
                <a:effectLst/>
                <a:latin typeface="JetBrains Mono"/>
              </a:rPr>
              <a:t># In-class exercise: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01. Read CSV file (dataFile.csv)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02. Review dataset description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03. Does it look like for classification or regression? It's classification.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04. Create </a:t>
            </a:r>
            <a:r>
              <a:rPr lang="en-US" sz="1800" i="1" dirty="0" err="1">
                <a:effectLst/>
                <a:latin typeface="JetBrains Mono"/>
              </a:rPr>
              <a:t>visualisations</a:t>
            </a:r>
            <a:r>
              <a:rPr lang="en-US" sz="1800" i="1" dirty="0">
                <a:effectLst/>
                <a:latin typeface="JetBrains Mono"/>
              </a:rPr>
              <a:t> to understand the data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05. Identify outliers using boxplots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06. Create pipeline with baseline model (Logistic Regression or naive Bayes)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07. Create pipeline with advanced model (Random Forest, Gradient Boosting, </a:t>
            </a:r>
            <a:r>
              <a:rPr lang="en-US" sz="1800" i="1" dirty="0" err="1">
                <a:effectLst/>
                <a:latin typeface="JetBrains Mono"/>
              </a:rPr>
              <a:t>ExtraTrees</a:t>
            </a:r>
            <a:r>
              <a:rPr lang="en-US" sz="1800" i="1" dirty="0">
                <a:effectLst/>
                <a:latin typeface="JetBrains Mono"/>
              </a:rPr>
              <a:t>, </a:t>
            </a:r>
            <a:r>
              <a:rPr lang="en-US" sz="1800" i="1" dirty="0" err="1">
                <a:effectLst/>
                <a:latin typeface="JetBrains Mono"/>
              </a:rPr>
              <a:t>etc</a:t>
            </a:r>
            <a:r>
              <a:rPr lang="en-US" sz="1800" i="1" dirty="0">
                <a:effectLst/>
                <a:latin typeface="JetBrains Mono"/>
              </a:rPr>
              <a:t>)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08. Compare results using cross-validation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09. Create a pipeline with filter feature selection (</a:t>
            </a:r>
            <a:r>
              <a:rPr lang="en-US" sz="1800" i="1" dirty="0" err="1">
                <a:effectLst/>
                <a:latin typeface="JetBrains Mono"/>
              </a:rPr>
              <a:t>SelectKBest</a:t>
            </a:r>
            <a:r>
              <a:rPr lang="en-US" sz="1800" i="1" dirty="0">
                <a:effectLst/>
                <a:latin typeface="JetBrains Mono"/>
              </a:rPr>
              <a:t>)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10. </a:t>
            </a:r>
            <a:r>
              <a:rPr lang="en-US" sz="1800" i="1" dirty="0" err="1">
                <a:effectLst/>
                <a:latin typeface="JetBrains Mono"/>
              </a:rPr>
              <a:t>Visualise</a:t>
            </a:r>
            <a:r>
              <a:rPr lang="en-US" sz="1800" i="1" dirty="0">
                <a:effectLst/>
                <a:latin typeface="JetBrains Mono"/>
              </a:rPr>
              <a:t> the top features using permutation importance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Bonus material -- feature selection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11. Use a wrapper feature selection approach (</a:t>
            </a:r>
            <a:r>
              <a:rPr lang="en-US" sz="1800" i="1" dirty="0" err="1">
                <a:effectLst/>
                <a:latin typeface="JetBrains Mono"/>
              </a:rPr>
              <a:t>SelectFromModel</a:t>
            </a:r>
            <a:r>
              <a:rPr lang="en-US" sz="1800" i="1" dirty="0">
                <a:effectLst/>
                <a:latin typeface="JetBrains Mono"/>
              </a:rPr>
              <a:t>)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12. List top features using feature importance / MDI approach</a:t>
            </a:r>
            <a:br>
              <a:rPr lang="en-US" sz="1800" i="1" dirty="0">
                <a:effectLst/>
                <a:latin typeface="JetBrains Mono"/>
              </a:rPr>
            </a:br>
            <a:r>
              <a:rPr lang="en-US" sz="1800" i="1" dirty="0">
                <a:effectLst/>
                <a:latin typeface="JetBrains Mono"/>
              </a:rPr>
              <a:t># 13. List top features using univariate feature selection (</a:t>
            </a:r>
            <a:r>
              <a:rPr lang="en-US" sz="1800" i="1" dirty="0" err="1">
                <a:effectLst/>
                <a:latin typeface="JetBrains Mono"/>
              </a:rPr>
              <a:t>SelectKBest</a:t>
            </a:r>
            <a:r>
              <a:rPr lang="en-US" sz="1800" i="1" dirty="0">
                <a:effectLst/>
                <a:latin typeface="JetBrains Mono"/>
              </a:rPr>
              <a:t> &amp; Anova F-value)</a:t>
            </a:r>
            <a:endParaRPr lang="en-US" sz="1800" dirty="0">
              <a:effectLst/>
              <a:latin typeface="JetBrains Mono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B36C8A6-1CF5-3D37-97F5-EB0B3EC3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Some </a:t>
            </a:r>
            <a:r>
              <a:rPr lang="en-GB"/>
              <a:t>more details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2896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237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JetBrains Mono</vt:lpstr>
      <vt:lpstr>Office Theme</vt:lpstr>
      <vt:lpstr>Today’s lab</vt:lpstr>
      <vt:lpstr>Some more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Giovani Estrada</dc:creator>
  <cp:lastModifiedBy>Renato Goedert</cp:lastModifiedBy>
  <cp:revision>1</cp:revision>
  <dcterms:created xsi:type="dcterms:W3CDTF">2025-10-16T09:39:19Z</dcterms:created>
  <dcterms:modified xsi:type="dcterms:W3CDTF">2026-02-12T18:52:35Z</dcterms:modified>
</cp:coreProperties>
</file>